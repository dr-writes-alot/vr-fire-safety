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The deck explains how the trainer was implemented: environment, lesson engine, interaction system, teaching content, UI, and the automated verification. Everything shown is implemented in one Unity scene.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the constraints: the scope limits are what make a beginner project finishable. The out-of-scope list is deliberate and was respected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teaching object sits on the single route, so the player never has to hunt or choose a branch. The stairs drop 3.5 m, the second corridor continues at that level, and the assembly point is outside.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sections map onto the brief. Section B is the longest because it carries the mask and extinguisher teaching; section C re-uses the alarm and the same building.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There is no framework and no DI container. Objects report events to LessonManager with a short string id (alarm, phone, mask_display, ext_card_water, pass_complete, checkpoint_stairs_bottom...). LessonManager decides what happens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constants are grouped in tens (10, 20 ... 180) with sub-steps in fives, so inserting a step later does not renumber the whole file. Unknown events are ignored, which keeps the lesson safe if an object is activated out of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prompt, the hover pulse and the availability gate all live in InteractableBase, so no object can forget them. SimpleInteractable keeps the scene wiring to one serialized string per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alarm is a plain interactable: it starts audio and a strobe, and reports one event. It never takes control of the player, which was an early bug: an overlay that did not close left the player unable to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wall poster was removed on request: the same content is now delivered as a pop-up when the player inspects the case, where it is actually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wall of models, one practice unit and one fire. The teaching text for all six units lives in LessonContent.Extinguishers and is bound to the models by event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replaced a four-press interaction. The pin really leaves the valve and drops; the head really turns; the lever really travels; the jet really sweeps. All numbers are serialized on the station component so they can be tuned in the Inspector.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smoke is deliberately a hazard you cannot walk through: the trigger returns the player to the safe point and the panel teaches what to do instead of inventing a second corridor that does not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Delivered as panels at the safe endpoint — no casualty scenario, no new environment. Wording stays conservative: 'if safe', 'follow dispatch instructions'.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UI is built entirely in code (no prefabs), so it can never drift from the scripts. Two real bugs shaped it: buttons that only worked through the EventSystem, and a panel that opened inside a wall when the player stood at the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was treated as a deliverable: each claim was checked against a named source and the references are shipped in the app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was accepted on faith: each generator change is followed by the four checks, and the URP migration is verified by inspecting the serialized assets, not by hoping the Editor upgrades them quietly.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honest test log. Two of these came directly from the user's screenshots; the rest from static analysis of the generated scene.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run instructions and an honest test statement. The deck does not claim any VR run was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artefacts, five of which can be produced in a few minutes without hardware. The sixth is the wording: stating exactly what was and was not tested is what makes the rest credible. Full walkthrough: docs/VR-Readiness-Evidence.md.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0515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F2A03D"/>
                </a:solidFill>
                <a:latin typeface="Segoe UI"/>
              </a:rPr>
              <a:t>UNITY 6.5  ·  VR + DESKTOP  ·  ONE SCENE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200" b="1" i="0">
                <a:solidFill>
                  <a:srgbClr val="ECF1F6"/>
                </a:solidFill>
                <a:latin typeface="Segoe UI"/>
              </a:rPr>
              <a:t>VR Fire Safety &amp;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5200" b="1" i="0">
                <a:solidFill>
                  <a:srgbClr val="ECF1F6"/>
                </a:solidFill>
                <a:latin typeface="Segoe UI"/>
              </a:rPr>
              <a:t>Evacuation Trainer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246120"/>
            <a:ext cx="8595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9BA8B6"/>
                </a:solidFill>
                <a:latin typeface="Segoe UI"/>
              </a:rPr>
              <a:t>How the experience is built: the scene, the lesson engine, the interactions,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9BA8B6"/>
                </a:solidFill>
                <a:latin typeface="Segoe UI"/>
              </a:rPr>
              <a:t>the teaching content and the checks that keep it working.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434840"/>
            <a:ext cx="2011680" cy="310896"/>
          </a:xfrm>
          <a:prstGeom prst="roundRect">
            <a:avLst>
              <a:gd name="adj" fmla="val 40000"/>
            </a:avLst>
          </a:prstGeom>
          <a:solidFill>
            <a:srgbClr val="1E2A37"/>
          </a:solidFill>
          <a:ln w="9525">
            <a:solidFill>
              <a:srgbClr val="F2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2A03D"/>
                </a:solidFill>
                <a:latin typeface="Segoe UI"/>
              </a:rPr>
              <a:t>Unity 6000.5.3f1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4434840"/>
            <a:ext cx="2011680" cy="310896"/>
          </a:xfrm>
          <a:prstGeom prst="roundRect">
            <a:avLst>
              <a:gd name="adj" fmla="val 40000"/>
            </a:avLst>
          </a:prstGeom>
          <a:solidFill>
            <a:srgbClr val="1E2A37"/>
          </a:solidFill>
          <a:ln w="9525">
            <a:solidFill>
              <a:srgbClr val="3FB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3FBF7F"/>
                </a:solidFill>
                <a:latin typeface="Segoe UI"/>
              </a:rPr>
              <a:t>URP 17.5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4434840"/>
            <a:ext cx="2011680" cy="310896"/>
          </a:xfrm>
          <a:prstGeom prst="roundRect">
            <a:avLst>
              <a:gd name="adj" fmla="val 40000"/>
            </a:avLst>
          </a:prstGeom>
          <a:solidFill>
            <a:srgbClr val="1E2A37"/>
          </a:solidFill>
          <a:ln w="9525">
            <a:solidFill>
              <a:srgbClr val="54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549CD6"/>
                </a:solidFill>
                <a:latin typeface="Segoe UI"/>
              </a:rPr>
              <a:t>OpenXR + XRI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434840"/>
            <a:ext cx="2011680" cy="310896"/>
          </a:xfrm>
          <a:prstGeom prst="roundRect">
            <a:avLst>
              <a:gd name="adj" fmla="val 40000"/>
            </a:avLst>
          </a:prstGeom>
          <a:solidFill>
            <a:srgbClr val="1E2A37"/>
          </a:solidFill>
          <a:ln w="9525">
            <a:solidFill>
              <a:srgbClr val="9BA8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9BA8B6"/>
                </a:solidFill>
                <a:latin typeface="Segoe UI"/>
              </a:rPr>
              <a:t>Desktop fallback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175504"/>
            <a:ext cx="10424160" cy="10972"/>
          </a:xfrm>
          <a:prstGeom prst="rect">
            <a:avLst/>
          </a:prstGeom>
          <a:solidFill>
            <a:srgbClr val="1E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9496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 i="0">
                <a:solidFill>
                  <a:srgbClr val="F2A03D"/>
                </a:solidFill>
                <a:latin typeface="Segoe UI"/>
              </a:rPr>
              <a:t>18 C# scripts  ·  4,300 lines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A8B6"/>
                </a:solidFill>
                <a:latin typeface="Segoe UI"/>
              </a:rPr>
              <a:t>~270 scene objects, generated by a Python scene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39496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00" b="1" i="0">
                <a:solidFill>
                  <a:srgbClr val="F2A03D"/>
                </a:solidFill>
                <a:latin typeface="Segoe UI"/>
              </a:rPr>
              <a:t>Educational simulation</a:t>
            </a:r>
          </a:p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300" b="0" i="0">
                <a:solidFill>
                  <a:srgbClr val="9BA8B6"/>
                </a:solidFill>
                <a:latin typeface="Segoe UI"/>
              </a:rPr>
              <a:t>Not a substitute for certified fire-safety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What it teaches — and what it avoids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486400" cy="41605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412394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65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Segoe UI"/>
              </a:rPr>
              <a:t>REQUIRED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95728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One </a:t>
            </a:r>
            <a:r>
              <a:rPr sz="1450" b="1">
                <a:solidFill>
                  <a:srgbClr val="F2A03D"/>
                </a:solidFill>
                <a:latin typeface="Segoe UI"/>
              </a:rPr>
              <a:t>guided, linear</a:t>
            </a:r>
            <a:r>
              <a:rPr sz="1450" b="0">
                <a:solidFill>
                  <a:srgbClr val="ECF1F6"/>
                </a:solidFill>
                <a:latin typeface="Segoe UI"/>
              </a:rPr>
              <a:t> session for a beginner college audience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Four teaching sections: alarm → masks/extinguishers → evacuation → first aid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1">
                <a:solidFill>
                  <a:srgbClr val="F2A03D"/>
                </a:solidFill>
                <a:latin typeface="Segoe UI"/>
              </a:rPr>
              <a:t>One scene</a:t>
            </a:r>
            <a:r>
              <a:rPr sz="1450" b="0">
                <a:solidFill>
                  <a:srgbClr val="ECF1F6"/>
                </a:solidFill>
                <a:latin typeface="Segoe UI"/>
              </a:rPr>
              <a:t>: corridor, one stair flight, second corridor, assembly point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Runs in the Editor </a:t>
            </a:r>
            <a:r>
              <a:rPr sz="1450" b="1">
                <a:solidFill>
                  <a:srgbClr val="F2A03D"/>
                </a:solidFill>
                <a:latin typeface="Segoe UI"/>
              </a:rPr>
              <a:t>without a headset</a:t>
            </a:r>
            <a:r>
              <a:rPr sz="1450" b="0">
                <a:solidFill>
                  <a:srgbClr val="ECF1F6"/>
                </a:solidFill>
                <a:latin typeface="Segoe UI"/>
              </a:rPr>
              <a:t> (WASD / mouse / E) and in VR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Real teaching content, cited from Indian and international guidance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Large readable UI, no timers, no combat, no scoring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783080"/>
            <a:ext cx="5212080" cy="41605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801368"/>
            <a:ext cx="64008" cy="41239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965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D93A2B"/>
                </a:solidFill>
                <a:latin typeface="Segoe UI"/>
              </a:rPr>
              <a:t>EXPLICITLY OUT OF SCOPE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395728"/>
            <a:ext cx="466344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Extra floors, rooms, branches, campus, multiple incidents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Separate mini-scenes per extinguisher type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Scoring, leaderboards, AI, NPCs, multiplayer, architecture frameworks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A </a:t>
            </a:r>
            <a:r>
              <a:rPr sz="1450" b="1">
                <a:solidFill>
                  <a:srgbClr val="F2A03D"/>
                </a:solidFill>
                <a:latin typeface="Segoe UI"/>
              </a:rPr>
              <a:t>fake alternative route</a:t>
            </a:r>
            <a:r>
              <a:rPr sz="1450" b="0">
                <a:solidFill>
                  <a:srgbClr val="ECF1F6"/>
                </a:solidFill>
                <a:latin typeface="Segoe UI"/>
              </a:rPr>
              <a:t> past the smoke — teaches the honest alternative instead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Claims of protection: no mask is presented as safe in smoke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450">
                <a:solidFill>
                  <a:srgbClr val="F2A03D"/>
                </a:solidFill>
                <a:latin typeface="Segoe UI"/>
              </a:rPr>
              <a:t>▪  </a:t>
            </a:r>
            <a:r>
              <a:rPr sz="1450" b="0">
                <a:solidFill>
                  <a:srgbClr val="ECF1F6"/>
                </a:solidFill>
                <a:latin typeface="Segoe UI"/>
              </a:rPr>
              <a:t>Claims of testing that was not actually performed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943600"/>
            <a:ext cx="10927080" cy="402336"/>
          </a:xfrm>
          <a:prstGeom prst="roundRect">
            <a:avLst>
              <a:gd name="adj" fmla="val 2000"/>
            </a:avLst>
          </a:prstGeom>
          <a:solidFill>
            <a:srgbClr val="2A1B14"/>
          </a:solidFill>
          <a:ln w="9525">
            <a:solidFill>
              <a:srgbClr val="D9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6025896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F2A03D"/>
                </a:solidFill>
                <a:latin typeface="Segoe UI"/>
              </a:rPr>
              <a:t>Presented as a basic educational simulation — not professional instruction or certification.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One linear route through one building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74519"/>
            <a:ext cx="1143000" cy="402336"/>
          </a:xfrm>
          <a:prstGeom prst="roundRect">
            <a:avLst>
              <a:gd name="adj" fmla="val 35000"/>
            </a:avLst>
          </a:prstGeom>
          <a:solidFill>
            <a:srgbClr val="1E2A37"/>
          </a:solidFill>
          <a:ln w="9525">
            <a:solidFill>
              <a:srgbClr val="F2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2A03D"/>
                </a:solidFill>
                <a:latin typeface="Segoe UI"/>
              </a:rP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856231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Corridor 1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z 0 → 18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1109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Spawn point, tutorial signage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52728" y="2276856"/>
            <a:ext cx="0" cy="201168"/>
          </a:xfrm>
          <a:prstGeom prst="line">
            <a:avLst/>
          </a:prstGeom>
          <a:ln w="12700">
            <a:solidFill>
              <a:srgbClr val="1E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2423160"/>
            <a:ext cx="1143000" cy="402336"/>
          </a:xfrm>
          <a:prstGeom prst="roundRect">
            <a:avLst>
              <a:gd name="adj" fmla="val 35000"/>
            </a:avLst>
          </a:prstGeom>
          <a:solidFill>
            <a:srgbClr val="1E2A37"/>
          </a:solidFill>
          <a:ln w="9525">
            <a:solidFill>
              <a:srgbClr val="F2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2A03D"/>
                </a:solidFill>
                <a:latin typeface="Segoe UI"/>
              </a:rPr>
              <a:t>SECTION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4048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Alarm + phone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left / right 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4597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Call point, 112 phone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252728" y="2825496"/>
            <a:ext cx="0" cy="201168"/>
          </a:xfrm>
          <a:prstGeom prst="line">
            <a:avLst/>
          </a:prstGeom>
          <a:ln w="12700">
            <a:solidFill>
              <a:srgbClr val="1E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2971800"/>
            <a:ext cx="1143000" cy="402336"/>
          </a:xfrm>
          <a:prstGeom prst="roundRect">
            <a:avLst>
              <a:gd name="adj" fmla="val 35000"/>
            </a:avLst>
          </a:prstGeom>
          <a:solidFill>
            <a:srgbClr val="1E2A37"/>
          </a:solidFill>
          <a:ln w="9525">
            <a:solidFill>
              <a:srgbClr val="F2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2A03D"/>
                </a:solidFill>
                <a:latin typeface="Segoe UI"/>
              </a:rPr>
              <a:t>SECTION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9535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Mask case +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6 extinguishers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0083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Fire demo bin, PASS station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52728" y="3374136"/>
            <a:ext cx="0" cy="201168"/>
          </a:xfrm>
          <a:prstGeom prst="line">
            <a:avLst/>
          </a:prstGeom>
          <a:ln w="12700">
            <a:solidFill>
              <a:srgbClr val="1E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85800" y="3520439"/>
            <a:ext cx="1143000" cy="402336"/>
          </a:xfrm>
          <a:prstGeom prst="roundRect">
            <a:avLst>
              <a:gd name="adj" fmla="val 35000"/>
            </a:avLst>
          </a:prstGeom>
          <a:solidFill>
            <a:srgbClr val="1E2A37"/>
          </a:solidFill>
          <a:ln w="9525">
            <a:solidFill>
              <a:srgbClr val="9BA8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9BA8B6"/>
                </a:solidFill>
                <a:latin typeface="Segoe UI"/>
              </a:rPr>
              <a:t>LOBBY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502151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Stairs entrance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signage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55701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Lift call button (teaches: no lifts)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52728" y="3922776"/>
            <a:ext cx="0" cy="201167"/>
          </a:xfrm>
          <a:prstGeom prst="line">
            <a:avLst/>
          </a:prstGeom>
          <a:ln w="12700">
            <a:solidFill>
              <a:srgbClr val="1E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5800" y="4069079"/>
            <a:ext cx="1143000" cy="402336"/>
          </a:xfrm>
          <a:prstGeom prst="roundRect">
            <a:avLst>
              <a:gd name="adj" fmla="val 35000"/>
            </a:avLst>
          </a:prstGeom>
          <a:solidFill>
            <a:srgbClr val="1E2A37"/>
          </a:solidFill>
          <a:ln w="9525">
            <a:solidFill>
              <a:srgbClr val="54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49CD6"/>
                </a:solidFill>
                <a:latin typeface="Segoe UI"/>
              </a:rPr>
              <a:t>STAIRS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050791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20 steps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down 3.5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105655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Handrails, EXIT signs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252728" y="4471416"/>
            <a:ext cx="0" cy="201167"/>
          </a:xfrm>
          <a:prstGeom prst="line">
            <a:avLst/>
          </a:prstGeom>
          <a:ln w="12700">
            <a:solidFill>
              <a:srgbClr val="1E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85800" y="4617720"/>
            <a:ext cx="1143000" cy="402336"/>
          </a:xfrm>
          <a:prstGeom prst="roundRect">
            <a:avLst>
              <a:gd name="adj" fmla="val 35000"/>
            </a:avLst>
          </a:prstGeom>
          <a:solidFill>
            <a:srgbClr val="1E2A37"/>
          </a:solidFill>
          <a:ln w="9525">
            <a:solidFill>
              <a:srgbClr val="54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549CD6"/>
                </a:solidFill>
                <a:latin typeface="Segoe UI"/>
              </a:rPr>
              <a:t>SECTION 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459943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Corridor 2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smoke + fire door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65429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Hazard zone, safe point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52728" y="5020056"/>
            <a:ext cx="0" cy="201167"/>
          </a:xfrm>
          <a:prstGeom prst="line">
            <a:avLst/>
          </a:prstGeom>
          <a:ln w="12700">
            <a:solidFill>
              <a:srgbClr val="1E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85800" y="5166359"/>
            <a:ext cx="1143000" cy="402336"/>
          </a:xfrm>
          <a:prstGeom prst="roundRect">
            <a:avLst>
              <a:gd name="adj" fmla="val 35000"/>
            </a:avLst>
          </a:prstGeom>
          <a:solidFill>
            <a:srgbClr val="1E2A37"/>
          </a:solidFill>
          <a:ln w="9525">
            <a:solidFill>
              <a:srgbClr val="3FB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3FBF7F"/>
                </a:solidFill>
                <a:latin typeface="Segoe UI"/>
              </a:rPr>
              <a:t>EXIT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51480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Double doors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to outside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520293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Door must be opened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252728" y="5568696"/>
            <a:ext cx="0" cy="201167"/>
          </a:xfrm>
          <a:prstGeom prst="line">
            <a:avLst/>
          </a:prstGeom>
          <a:ln w="12700">
            <a:solidFill>
              <a:srgbClr val="1E2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85800" y="5715000"/>
            <a:ext cx="1143000" cy="402336"/>
          </a:xfrm>
          <a:prstGeom prst="roundRect">
            <a:avLst>
              <a:gd name="adj" fmla="val 35000"/>
            </a:avLst>
          </a:prstGeom>
          <a:solidFill>
            <a:srgbClr val="1E2A37"/>
          </a:solidFill>
          <a:ln w="9525">
            <a:solidFill>
              <a:srgbClr val="3FB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3FBF7F"/>
                </a:solidFill>
                <a:latin typeface="Segoe UI"/>
              </a:rPr>
              <a:t>SECTION 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69671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Assembly point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ECF1F6"/>
                </a:solidFill>
                <a:latin typeface="Segoe UI"/>
              </a:rPr>
              <a:t>z 51 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751576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First-aid panels at the 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1874519"/>
            <a:ext cx="3749039" cy="32461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18120" y="1892807"/>
            <a:ext cx="64008" cy="320954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2029968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HOW IT IS BUILT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2395728"/>
            <a:ext cx="32461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Primitive meshes + 53 generated materials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Signs, audio and textures generated offline (Pillow / NumPy)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Geometry written into the scene by </a:t>
            </a:r>
            <a:r>
              <a:rPr sz="1250" b="1">
                <a:solidFill>
                  <a:srgbClr val="F2A03D"/>
                </a:solidFill>
                <a:latin typeface="Segoe UI"/>
              </a:rPr>
              <a:t>tools/gen_scene.py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No imported 3D assets, nothing to download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Stairwell sealed top to bottom (ray-tested)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18120" y="5138928"/>
            <a:ext cx="3749039" cy="1033271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0" y="5285232"/>
            <a:ext cx="32918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Route length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≈ 55 m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Corridor 1 (y 0) → stairs (−3.5 m) → corridor 2 → outside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LESSON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Four sections, one guided 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2606040" cy="41605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412394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1938528"/>
            <a:ext cx="384048" cy="384048"/>
          </a:xfrm>
          <a:prstGeom prst="ellipse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51E"/>
                </a:solidFill>
                <a:latin typeface="Segoe U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195681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Immediate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5237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7C8B"/>
                </a:solidFill>
                <a:latin typeface="Segoe UI"/>
              </a:rPr>
              <a:t>stages 10 → 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852928"/>
            <a:ext cx="2286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Interact with the alarm call point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Alarm loop starts, instruction panel opens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Call 112 on the wall phone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Panel teaches: alert others, no belongings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83080"/>
            <a:ext cx="2606040" cy="41605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801368"/>
            <a:ext cx="64008" cy="412394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75304" y="1938528"/>
            <a:ext cx="384048" cy="384048"/>
          </a:xfrm>
          <a:prstGeom prst="ellipse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51E"/>
                </a:solidFill>
                <a:latin typeface="Segoe UI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4" y="195681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Masks &amp; extinguishers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25237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7C8B"/>
                </a:solidFill>
                <a:latin typeface="Segoe UI"/>
              </a:rPr>
              <a:t>stages 40 → 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852928"/>
            <a:ext cx="2286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Mask case → types, limits, rules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Six models → class, rating, 'this fire?'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Safe-response decision on a real bin fire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Watch the animated PASS demonstration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One small bin fire, one practice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783080"/>
            <a:ext cx="2606040" cy="41605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801368"/>
            <a:ext cx="64008" cy="4123944"/>
          </a:xfrm>
          <a:prstGeom prst="rect">
            <a:avLst/>
          </a:prstGeom>
          <a:solidFill>
            <a:srgbClr val="54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64224" y="1938528"/>
            <a:ext cx="384048" cy="384048"/>
          </a:xfrm>
          <a:prstGeom prst="ellipse">
            <a:avLst/>
          </a:prstGeom>
          <a:solidFill>
            <a:srgbClr val="54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51E"/>
                </a:solidFill>
                <a:latin typeface="Segoe UI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195681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Evacuation exercise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5237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7C8B"/>
                </a:solidFill>
                <a:latin typeface="Segoe UI"/>
              </a:rPr>
              <a:t>stages 90 → 155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852928"/>
            <a:ext cx="2286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Alarm still sounding, route marked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Lift call button → why not lifts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Stairs → corridor 2 → smoke hazard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Close the fire door, exit, assemble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The smoke blocks the way - no shortcut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39" y="1783080"/>
            <a:ext cx="2606040" cy="41605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39" y="1801368"/>
            <a:ext cx="64008" cy="412394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53143" y="1938528"/>
            <a:ext cx="384048" cy="384048"/>
          </a:xfrm>
          <a:prstGeom prst="ellipse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E151E"/>
                </a:solidFill>
                <a:latin typeface="Segoe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0343" y="1956816"/>
            <a:ext cx="187451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First aid at the endpoint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19" y="2523744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6E7C8B"/>
                </a:solidFill>
                <a:latin typeface="Segoe UI"/>
              </a:rPr>
              <a:t>stages 160 → 180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19" y="2852928"/>
            <a:ext cx="228600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Burns: cool 20 min, cover, escalate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Smoke inhalation: don't enter, call 112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CPR only as directed by dispatch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Restart or return to the menu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Reading and decisions, no casualty drill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9BA8B6"/>
                </a:solidFill>
                <a:latin typeface="Segoe UI"/>
              </a:rPr>
              <a:t>Progression is </a:t>
            </a:r>
            <a:r>
              <a:rPr sz="1200" b="1" i="0">
                <a:solidFill>
                  <a:srgbClr val="F2A03D"/>
                </a:solidFill>
                <a:latin typeface="Segoe UI"/>
              </a:rPr>
              <a:t>event-driven</a:t>
            </a:r>
            <a:r>
              <a:rPr sz="1200" b="0" i="0">
                <a:solidFill>
                  <a:srgbClr val="9BA8B6"/>
                </a:solidFill>
                <a:latin typeface="Segoe UI"/>
              </a:rPr>
              <a:t>: each step unlocks the next interaction.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Small scripts around one lesson manager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761488"/>
            <a:ext cx="3017520" cy="960120"/>
          </a:xfrm>
          <a:prstGeom prst="roundRect">
            <a:avLst>
              <a:gd name="adj" fmla="val 2000"/>
            </a:avLst>
          </a:prstGeom>
          <a:solidFill>
            <a:srgbClr val="2C2112"/>
          </a:solidFill>
          <a:ln w="9525">
            <a:solidFill>
              <a:srgbClr val="F2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85292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 i="0">
                <a:solidFill>
                  <a:srgbClr val="F2A03D"/>
                </a:solidFill>
                <a:latin typeface="Segoe UI"/>
              </a:rPr>
              <a:t>LessonManager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321868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30 numbers = the whole lesson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stage machine + event router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1783080"/>
            <a:ext cx="3246120" cy="71323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1874519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PlayerController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21305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WASD / mouse / XR sticks,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interaction raycast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31920" y="2139696"/>
            <a:ext cx="640080" cy="1106424"/>
          </a:xfrm>
          <a:prstGeom prst="line">
            <a:avLst/>
          </a:prstGeom>
          <a:ln w="15875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85800" y="2697480"/>
            <a:ext cx="3246120" cy="71323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7889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AlarmController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30449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alarm loop, strobe,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raise-once latch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054096"/>
            <a:ext cx="640080" cy="192024"/>
          </a:xfrm>
          <a:prstGeom prst="line">
            <a:avLst/>
          </a:prstGeom>
          <a:ln w="15875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5800" y="3611880"/>
            <a:ext cx="3246120" cy="71323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37033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SimpleInteractable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39593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eventId → LessonManager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(phone, masks, lift, cards)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3931920" y="3246120"/>
            <a:ext cx="640080" cy="722376"/>
          </a:xfrm>
          <a:prstGeom prst="line">
            <a:avLst/>
          </a:prstGeom>
          <a:ln w="15875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85800" y="4526280"/>
            <a:ext cx="3246120" cy="71323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" y="46177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ExtinguisherStation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" y="48737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animated PASS demo: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pin, aim, lever, sweep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3931920" y="3246120"/>
            <a:ext cx="640080" cy="1636776"/>
          </a:xfrm>
          <a:prstGeom prst="line">
            <a:avLst/>
          </a:prstGeom>
          <a:ln w="15875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183879" y="1783080"/>
            <a:ext cx="3246120" cy="71323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3" y="1874519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LessonUI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21305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world-space UI, HUD,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overlays, buttons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589520" y="2139696"/>
            <a:ext cx="594359" cy="1106424"/>
          </a:xfrm>
          <a:prstGeom prst="line">
            <a:avLst/>
          </a:prstGeom>
          <a:ln w="15875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183879" y="2697480"/>
            <a:ext cx="3246120" cy="71323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0183" y="27889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FireDemo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0183" y="30449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bin fire, flames,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light, douse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589520" y="3054096"/>
            <a:ext cx="594359" cy="192024"/>
          </a:xfrm>
          <a:prstGeom prst="line">
            <a:avLst/>
          </a:prstGeom>
          <a:ln w="15875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183879" y="3611880"/>
            <a:ext cx="3246120" cy="71323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0183" y="37033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EvacuationController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3" y="39593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checkpoints, smoke,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fire door, exit</a:t>
            </a:r>
          </a:p>
        </p:txBody>
      </p:sp>
      <p:cxnSp>
        <p:nvCxnSpPr>
          <p:cNvPr id="40" name="Connector 39"/>
          <p:cNvCxnSpPr/>
          <p:nvPr/>
        </p:nvCxnSpPr>
        <p:spPr>
          <a:xfrm flipH="1" flipV="1">
            <a:off x="7589520" y="3246120"/>
            <a:ext cx="594359" cy="722376"/>
          </a:xfrm>
          <a:prstGeom prst="line">
            <a:avLst/>
          </a:prstGeom>
          <a:ln w="15875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8183879" y="4526280"/>
            <a:ext cx="3246120" cy="71323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0183" y="46177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HudFollower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0183" y="48737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panel follows the eyes,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never behind a wall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7589520" y="3246120"/>
            <a:ext cx="594359" cy="1636776"/>
          </a:xfrm>
          <a:prstGeom prst="line">
            <a:avLst/>
          </a:prstGeom>
          <a:ln w="15875">
            <a:solidFill>
              <a:srgbClr val="6E7C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85800" y="5577840"/>
            <a:ext cx="5212080" cy="62179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5669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LessonContent.cs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— all teaching text in one place (60 members)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577840"/>
            <a:ext cx="5212080" cy="621792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56692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IInteractable / InteractableBase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— one contract for every usable object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LESSON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A stage machine that reads like a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6537960" cy="65836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F2A03D"/>
                </a:solidFill>
                <a:latin typeface="Segoe UI"/>
              </a:rPr>
              <a:t>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837943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ECF1F6"/>
                </a:solidFill>
                <a:latin typeface="Consolas"/>
              </a:rPr>
              <a:t>alarm.Interact()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1214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Consolas"/>
              </a:rPr>
              <a:t>→ Notify("alarm")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69464"/>
            <a:ext cx="6537960" cy="65836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64261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F2A03D"/>
                </a:solidFill>
                <a:latin typeface="Segoe UI"/>
              </a:rPr>
              <a:t>LESSON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2432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ECF1F6"/>
                </a:solidFill>
                <a:latin typeface="Consolas"/>
              </a:rPr>
              <a:t>stage == StageAlarm ? GoTo(StageAlarmInfo)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9077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Consolas"/>
              </a:rPr>
              <a:t>shows the 112 panel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55848"/>
            <a:ext cx="6537960" cy="65836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F2A03D"/>
                </a:solidFill>
                <a:latin typeface="Segoe UI"/>
              </a:rPr>
              <a:t>UNLOCK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4107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ECF1F6"/>
                </a:solidFill>
                <a:latin typeface="Consolas"/>
              </a:rPr>
              <a:t>BeginPhoneStep()  → phone.available = true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6941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Consolas"/>
              </a:rPr>
              <a:t>next object becomes usable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142232"/>
            <a:ext cx="6537960" cy="65836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1538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F2A03D"/>
                </a:solidFill>
                <a:latin typeface="Segoe UI"/>
              </a:rPr>
              <a:t>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419709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ECF1F6"/>
                </a:solidFill>
                <a:latin typeface="Consolas"/>
              </a:rPr>
              <a:t>everything else ignores the event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4805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Consolas"/>
              </a:rPr>
              <a:t>no way to skip a section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783080"/>
            <a:ext cx="4023360" cy="30175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79" y="1801368"/>
            <a:ext cx="64008" cy="2980944"/>
          </a:xfrm>
          <a:prstGeom prst="rect">
            <a:avLst/>
          </a:prstGeom>
          <a:solidFill>
            <a:srgbClr val="54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79" y="192024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549CD6"/>
                </a:solidFill>
                <a:latin typeface="Segoe UI"/>
              </a:rPr>
              <a:t>WHY THIS SHAPE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79" y="2267712"/>
            <a:ext cx="35661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One readable switch instead of scattered flags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Every event is idempotent: a repeated trigger cannot skip ahead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Reset is a single call — restart and menu both work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New teaching step = one constant + one case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074920"/>
            <a:ext cx="2514600" cy="1051560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517550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2A03D"/>
                </a:solidFill>
                <a:latin typeface="Segoe UI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6327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stage constants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337560" y="5074920"/>
            <a:ext cx="2514600" cy="1051560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0440" y="517550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2A03D"/>
                </a:solidFill>
                <a:latin typeface="Segoe UI"/>
              </a:rPr>
              <a:t>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6327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event ids handled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5074920"/>
            <a:ext cx="2514600" cy="1051560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17550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2A03D"/>
                </a:solidFill>
                <a:latin typeface="Segoe U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6327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route checkpoints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32520" y="5074920"/>
            <a:ext cx="2514600" cy="1051560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15400" y="5175504"/>
            <a:ext cx="1097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600" b="1" i="0">
                <a:solidFill>
                  <a:srgbClr val="F2A03D"/>
                </a:solidFill>
                <a:latin typeface="Segoe U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563270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scene, no reloads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INTERACTION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Every object must answer — always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440680" cy="22860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224942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THE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67712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Camera ray + </a:t>
            </a:r>
            <a:r>
              <a:rPr sz="1200" b="1">
                <a:solidFill>
                  <a:srgbClr val="F2A03D"/>
                </a:solidFill>
                <a:latin typeface="Segoe UI"/>
              </a:rPr>
              <a:t>SphereCastAll</a:t>
            </a:r>
            <a:r>
              <a:rPr sz="1200" b="0">
                <a:solidFill>
                  <a:srgbClr val="ECF1F6"/>
                </a:solidFill>
                <a:latin typeface="Segoe UI"/>
              </a:rPr>
              <a:t> (radius 0.22 m, 3.2 m reach)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Hit collider → `GetComponentInParent&lt;IInteractable&gt;()`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Skip the player's own colliders; nearest available wins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HUD shows the prompt; </a:t>
            </a:r>
            <a:r>
              <a:rPr sz="1200" b="1">
                <a:solidFill>
                  <a:srgbClr val="F2A03D"/>
                </a:solidFill>
                <a:latin typeface="Segoe UI"/>
              </a:rPr>
              <a:t>E</a:t>
            </a:r>
            <a:r>
              <a:rPr sz="1200" b="0">
                <a:solidFill>
                  <a:srgbClr val="ECF1F6"/>
                </a:solidFill>
                <a:latin typeface="Segoe UI"/>
              </a:rPr>
              <a:t> (desktop) or </a:t>
            </a:r>
            <a:r>
              <a:rPr sz="1200" b="1">
                <a:solidFill>
                  <a:srgbClr val="F2A03D"/>
                </a:solidFill>
                <a:latin typeface="Segoe UI"/>
              </a:rPr>
              <a:t>trigger</a:t>
            </a:r>
            <a:r>
              <a:rPr sz="1200" b="0">
                <a:solidFill>
                  <a:srgbClr val="ECF1F6"/>
                </a:solidFill>
                <a:latin typeface="Segoe UI"/>
              </a:rPr>
              <a:t> (VR) activates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5440680" cy="2075688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33087"/>
            <a:ext cx="64008" cy="2039112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4281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3A2B"/>
                </a:solidFill>
                <a:latin typeface="Segoe UI"/>
              </a:rPr>
              <a:t>THE BUG: SILENT OBJECTS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72000"/>
            <a:ext cx="4983480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9BA8B6"/>
                </a:solidFill>
                <a:latin typeface="Segoe UI"/>
              </a:rPr>
              <a:t>Models and the mask case were locked until their exact lesson stage. Walk up early and pressing E did nothing — which reads as a broken game, not a lesson.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 i="0">
                <a:solidFill>
                  <a:srgbClr val="F2A03D"/>
                </a:solidFill>
                <a:latin typeface="Segoe UI"/>
              </a:rPr>
              <a:t>Fix:</a:t>
            </a:r>
            <a:r>
              <a:rPr sz="1200" b="0" i="0">
                <a:solidFill>
                  <a:srgbClr val="9BA8B6"/>
                </a:solidFill>
                <a:latin typeface="Segoe UI"/>
              </a:rPr>
              <a:t> they are always available. The stage only decides whether the interaction *counts*; otherwise it still opens the teaching panel.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783080"/>
            <a:ext cx="4983480" cy="4407408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801368"/>
            <a:ext cx="64008" cy="4370832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F2A03D"/>
                </a:solidFill>
                <a:latin typeface="Consolas"/>
              </a:rPr>
              <a:t>interface IInteractable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5786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Consolas"/>
              </a:rPr>
              <a:t>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28712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Consolas"/>
              </a:rPr>
              <a:t>    string InteractionPrompt { get; 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31638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Consolas"/>
              </a:rPr>
              <a:t>    bool   IsAvailable       { get;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345643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Consolas"/>
              </a:rPr>
              <a:t>    void   Interact(PlayerController p);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7490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Consolas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411480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9BA8B6"/>
                </a:solidFill>
                <a:latin typeface="Segoe UI"/>
              </a:rPr>
              <a:t>Derived classes: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4434840"/>
            <a:ext cx="44805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AlarmController · DoorController · ExtinguisherStation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SimpleInteractable — one class, a string `eventId`, for phone, masks, lift and the six model cards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SECTION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Raise the alarm, call 112, then leave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532120" cy="214884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211226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ALARM CALL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67712"/>
            <a:ext cx="502920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Red call point with strobe; `AlarmController` latches </a:t>
            </a:r>
            <a:r>
              <a:rPr sz="1200" b="1">
                <a:solidFill>
                  <a:srgbClr val="F2A03D"/>
                </a:solidFill>
                <a:latin typeface="Segoe UI"/>
              </a:rPr>
              <a:t>raise-once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Two-tone hooter loop (700/950 Hz) starts, strobe pulses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Panel then teaches: alert others, call 112, leave belongings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5532120" cy="21031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87368"/>
            <a:ext cx="64008" cy="2066543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112 PHONE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53712"/>
            <a:ext cx="50292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Separate interactable on the opposite wall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Teaches what to say: location, floor, what is burning, anyone trapped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India's single emergency number — </a:t>
            </a:r>
            <a:r>
              <a:rPr sz="1200" b="1">
                <a:solidFill>
                  <a:srgbClr val="F2A03D"/>
                </a:solidFill>
                <a:latin typeface="Segoe UI"/>
              </a:rPr>
              <a:t>112</a:t>
            </a:r>
            <a:r>
              <a:rPr sz="1200" b="0">
                <a:solidFill>
                  <a:srgbClr val="ECF1F6"/>
                </a:solidFill>
                <a:latin typeface="Segoe UI"/>
              </a:rPr>
              <a:t>, not 101/100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783080"/>
            <a:ext cx="4892040" cy="4389120"/>
          </a:xfrm>
          <a:prstGeom prst="roundRect">
            <a:avLst>
              <a:gd name="adj" fmla="val 2000"/>
            </a:avLst>
          </a:prstGeom>
          <a:solidFill>
            <a:srgbClr val="221812"/>
          </a:solidFill>
          <a:ln w="9525">
            <a:solidFill>
              <a:srgbClr val="D9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1938528"/>
            <a:ext cx="4434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3A2B"/>
                </a:solidFill>
                <a:latin typeface="Segoe UI"/>
              </a:rPr>
              <a:t>TAUGHT IN THIS SECTION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331720"/>
            <a:ext cx="44348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Raise the alarm </a:t>
            </a:r>
            <a:r>
              <a:rPr sz="1350" b="1">
                <a:solidFill>
                  <a:srgbClr val="F2A03D"/>
                </a:solidFill>
                <a:latin typeface="Segoe UI"/>
              </a:rPr>
              <a:t>before</a:t>
            </a:r>
            <a:r>
              <a:rPr sz="1350" b="0">
                <a:solidFill>
                  <a:srgbClr val="ECF1F6"/>
                </a:solidFill>
                <a:latin typeface="Segoe UI"/>
              </a:rPr>
              <a:t> anything else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Alert the people around you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Call </a:t>
            </a:r>
            <a:r>
              <a:rPr sz="1350" b="1">
                <a:solidFill>
                  <a:srgbClr val="F2A03D"/>
                </a:solidFill>
                <a:latin typeface="Segoe UI"/>
              </a:rPr>
              <a:t>112</a:t>
            </a:r>
            <a:r>
              <a:rPr sz="1350" b="0">
                <a:solidFill>
                  <a:srgbClr val="ECF1F6"/>
                </a:solidFill>
                <a:latin typeface="Segoe UI"/>
              </a:rPr>
              <a:t> and give a usable report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Evacuate promptly, no belongings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Do not go toward smoke or flames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If you cannot leave: close a door, seal gaps, call,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SECTION B · MASKS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Teach at the object, not on a poster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6035040" cy="822960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78638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87451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CF1F6"/>
                </a:solidFill>
                <a:latin typeface="Segoe UI"/>
              </a:rPr>
              <a:t>Cloth / surgical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874519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Loose fit. No protection against CO or toxic fire gases.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715768"/>
            <a:ext cx="6035040" cy="822960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734056"/>
            <a:ext cx="64008" cy="78638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8072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CF1F6"/>
                </a:solidFill>
                <a:latin typeface="Segoe UI"/>
              </a:rPr>
              <a:t>N95 / KN95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2807208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Particles only, and only if sealed to a clean-shaven face.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No oxygen, no CO protection.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48456"/>
            <a:ext cx="6035040" cy="822960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666744"/>
            <a:ext cx="64008" cy="78638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3989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CF1F6"/>
                </a:solidFill>
                <a:latin typeface="Segoe UI"/>
              </a:rPr>
              <a:t>Escape hood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739896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Filtered, short-duration escape aid. Needs oxygen in the air.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Not a reason to enter smoke.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81144"/>
            <a:ext cx="6035040" cy="822960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599431"/>
            <a:ext cx="64008" cy="786384"/>
          </a:xfrm>
          <a:prstGeom prst="rect">
            <a:avLst/>
          </a:prstGeom>
          <a:solidFill>
            <a:srgbClr val="9BA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672583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ECF1F6"/>
                </a:solidFill>
                <a:latin typeface="Segoe UI"/>
              </a:rPr>
              <a:t>SCBA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672583"/>
            <a:ext cx="37490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Fire-service breathing apparatus with its own air supply.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Not something to look for during an evacuation.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1783080"/>
            <a:ext cx="4526280" cy="192024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95160" y="1801368"/>
            <a:ext cx="64008" cy="188366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1920240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267712"/>
            <a:ext cx="4114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Mask case = `SimpleInteractable` (`mask_display`)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Opens a panel with all four types + rules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Reachable at any time, still counts once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0" y="3840480"/>
            <a:ext cx="4526280" cy="2331720"/>
          </a:xfrm>
          <a:prstGeom prst="roundRect">
            <a:avLst>
              <a:gd name="adj" fmla="val 2000"/>
            </a:avLst>
          </a:prstGeom>
          <a:solidFill>
            <a:srgbClr val="221812"/>
          </a:solidFill>
          <a:ln w="9525">
            <a:solidFill>
              <a:srgbClr val="D9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3977639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3A2B"/>
                </a:solidFill>
                <a:latin typeface="Segoe UI"/>
              </a:rPr>
              <a:t>THE THREE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315968"/>
            <a:ext cx="41148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Never delay evacuation to look for a mask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Never enter smoke because you wear one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Staying low helps, but is </a:t>
            </a:r>
            <a:r>
              <a:rPr sz="1200" b="1">
                <a:solidFill>
                  <a:srgbClr val="F2A03D"/>
                </a:solidFill>
                <a:latin typeface="Segoe UI"/>
              </a:rPr>
              <a:t>not</a:t>
            </a:r>
            <a:r>
              <a:rPr sz="1200" b="0">
                <a:solidFill>
                  <a:srgbClr val="ECF1F6"/>
                </a:solidFill>
                <a:latin typeface="Segoe UI"/>
              </a:rPr>
              <a:t> a guarantee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SECTION B · EXTINGUISHERS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Six models, five classes, one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577840" cy="25146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247802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INDIAN FIRE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2402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2A03D"/>
                </a:solidFill>
                <a:latin typeface="Segoe UI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5856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solids: wood, paper, cloth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25856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water · foam · ABC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26243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2A03D"/>
                </a:solidFill>
                <a:latin typeface="Segoe U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264261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flammable liquids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4261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foam · ABC · CO₂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00837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2A03D"/>
                </a:solidFill>
                <a:latin typeface="Segoe U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8448" y="302666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flammable gases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02666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ABC dry powder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39242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2A03D"/>
                </a:solidFill>
                <a:latin typeface="Segoe U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41071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combustible metals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4107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special Class D powder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37764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 i="0">
                <a:solidFill>
                  <a:srgbClr val="F2A03D"/>
                </a:solidFill>
                <a:latin typeface="Segoe UI"/>
              </a:rPr>
              <a:t>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794759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cooking oils and fats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3320" y="379475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9BA8B6"/>
                </a:solidFill>
                <a:latin typeface="Segoe UI"/>
              </a:rPr>
              <a:t>wet chemical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41605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1">
                <a:solidFill>
                  <a:srgbClr val="9BA8B6"/>
                </a:solidFill>
                <a:latin typeface="Segoe UI"/>
              </a:rPr>
              <a:t>Energised electrical equipment is a </a:t>
            </a:r>
            <a:r>
              <a:rPr sz="1050" b="1" i="1">
                <a:solidFill>
                  <a:srgbClr val="F2A03D"/>
                </a:solidFill>
                <a:latin typeface="Segoe UI"/>
              </a:rPr>
              <a:t>hazard</a:t>
            </a:r>
            <a:r>
              <a:rPr sz="1050" b="0" i="1">
                <a:solidFill>
                  <a:srgbClr val="9BA8B6"/>
                </a:solidFill>
                <a:latin typeface="Segoe UI"/>
              </a:rPr>
              <a:t>, not a separate Indian class.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34840"/>
            <a:ext cx="5577840" cy="173736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453127"/>
            <a:ext cx="64008" cy="170078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53712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3A2B"/>
                </a:solidFill>
                <a:latin typeface="Segoe UI"/>
              </a:rPr>
              <a:t>SAFETY RULES TAUGHT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892040"/>
            <a:ext cx="507492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Never water on cooking oil or energised electrical equipment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Never fight a leaking gas fire — alarm and evacuate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Small, contained fires only; alarm raised; exit behind you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92240" y="1783080"/>
            <a:ext cx="5029200" cy="43891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1801368"/>
            <a:ext cx="64008" cy="435254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CONTEXTUAL POP-UP AT EACH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2860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Every card returns three things:</a:t>
            </a:r>
          </a:p>
        </p:txBody>
      </p:sp>
      <p:sp>
        <p:nvSpPr>
          <p:cNvPr id="37" name="Oval 36"/>
          <p:cNvSpPr/>
          <p:nvPr/>
        </p:nvSpPr>
        <p:spPr>
          <a:xfrm>
            <a:off x="6766560" y="2670048"/>
            <a:ext cx="201168" cy="201168"/>
          </a:xfrm>
          <a:prstGeom prst="ellipse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86600" y="263347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Use it 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263347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the classes printed on the label</a:t>
            </a:r>
          </a:p>
        </p:txBody>
      </p:sp>
      <p:sp>
        <p:nvSpPr>
          <p:cNvPr id="40" name="Oval 39"/>
          <p:cNvSpPr/>
          <p:nvPr/>
        </p:nvSpPr>
        <p:spPr>
          <a:xfrm>
            <a:off x="6766560" y="3236976"/>
            <a:ext cx="201168" cy="201168"/>
          </a:xfrm>
          <a:prstGeom prst="ellipse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86600" y="32004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This fire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32004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why it is / is not right for the bin</a:t>
            </a:r>
          </a:p>
        </p:txBody>
      </p:sp>
      <p:sp>
        <p:nvSpPr>
          <p:cNvPr id="43" name="Oval 42"/>
          <p:cNvSpPr/>
          <p:nvPr/>
        </p:nvSpPr>
        <p:spPr>
          <a:xfrm>
            <a:off x="6766560" y="3803903"/>
            <a:ext cx="201168" cy="201168"/>
          </a:xfrm>
          <a:prstGeom prst="ellipse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86600" y="37673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Rating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376732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never above the label / one attempt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4805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9BA8B6"/>
                </a:solidFill>
                <a:latin typeface="Segoe UI"/>
              </a:rPr>
              <a:t>Example — the bin fire: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800600"/>
            <a:ext cx="4572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>
                <a:solidFill>
                  <a:srgbClr val="F2A03D"/>
                </a:solidFill>
                <a:latin typeface="Segoe UI"/>
              </a:rPr>
              <a:t>▪  </a:t>
            </a:r>
            <a:r>
              <a:rPr sz="1050" b="1">
                <a:solidFill>
                  <a:srgbClr val="F2A03D"/>
                </a:solidFill>
                <a:latin typeface="Segoe UI"/>
              </a:rPr>
              <a:t>ABC powder</a:t>
            </a:r>
            <a:r>
              <a:rPr sz="1050" b="0">
                <a:solidFill>
                  <a:srgbClr val="ECF1F6"/>
                </a:solidFill>
                <a:latin typeface="Segoe UI"/>
              </a:rPr>
              <a:t> — right choice (Class A solids)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>
                <a:solidFill>
                  <a:srgbClr val="F2A03D"/>
                </a:solidFill>
                <a:latin typeface="Segoe UI"/>
              </a:rPr>
              <a:t>▪  </a:t>
            </a:r>
            <a:r>
              <a:rPr sz="1050" b="1">
                <a:solidFill>
                  <a:srgbClr val="F2A03D"/>
                </a:solidFill>
                <a:latin typeface="Segoe UI"/>
              </a:rPr>
              <a:t>CO₂</a:t>
            </a:r>
            <a:r>
              <a:rPr sz="1050" b="0">
                <a:solidFill>
                  <a:srgbClr val="ECF1F6"/>
                </a:solidFill>
                <a:latin typeface="Segoe UI"/>
              </a:rPr>
              <a:t> — for liquids and live electrics; blows burning solids about</a:t>
            </a:r>
          </a:p>
          <a:p>
            <a:pPr>
              <a:lnSpc>
                <a:spcPct val="112000"/>
              </a:lnSpc>
              <a:spcAft>
                <a:spcPts val="300"/>
              </a:spcAft>
            </a:pPr>
            <a:r>
              <a:rPr sz="1050">
                <a:solidFill>
                  <a:srgbClr val="F2A03D"/>
                </a:solidFill>
                <a:latin typeface="Segoe UI"/>
              </a:rPr>
              <a:t>▪  </a:t>
            </a:r>
            <a:r>
              <a:rPr sz="1050" b="1">
                <a:solidFill>
                  <a:srgbClr val="F2A03D"/>
                </a:solidFill>
                <a:latin typeface="Segoe UI"/>
              </a:rPr>
              <a:t>Wet chemical / Class D</a:t>
            </a:r>
            <a:r>
              <a:rPr sz="1050" b="0">
                <a:solidFill>
                  <a:srgbClr val="ECF1F6"/>
                </a:solidFill>
                <a:latin typeface="Segoe UI"/>
              </a:rPr>
              <a:t> — wrong fuel entirely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SECTION B ·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PASS in action — on the model itself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2651760" cy="214884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211226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87451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F2A03D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19568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CF1F6"/>
                </a:solidFill>
                <a:latin typeface="Segoe UI"/>
              </a:rPr>
              <a:t>PULL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432304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pin slides out of the valve,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falls and settles on the table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10128" y="2834640"/>
            <a:ext cx="128016" cy="0"/>
          </a:xfrm>
          <a:prstGeom prst="line">
            <a:avLst/>
          </a:prstGeom>
          <a:ln w="19050">
            <a:solidFill>
              <a:srgbClr val="F2A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456432" y="1783080"/>
            <a:ext cx="2651760" cy="214884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6432" y="1801368"/>
            <a:ext cx="64008" cy="211226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187451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F2A03D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19568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CF1F6"/>
                </a:solidFill>
                <a:latin typeface="Segoe UI"/>
              </a:rPr>
              <a:t>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2432304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valve, hose and horn rotate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until the horn faces the base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2834640"/>
            <a:ext cx="128016" cy="0"/>
          </a:xfrm>
          <a:prstGeom prst="line">
            <a:avLst/>
          </a:prstGeom>
          <a:ln w="19050">
            <a:solidFill>
              <a:srgbClr val="F2A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72784" y="1783080"/>
            <a:ext cx="2651760" cy="214884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2784" y="1801368"/>
            <a:ext cx="64008" cy="211226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55664" y="187451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F2A03D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19568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CF1F6"/>
                </a:solidFill>
                <a:latin typeface="Segoe UI"/>
              </a:rPr>
              <a:t>SQUEEZE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2432304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lever depresses;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powder jet + hiss start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942832" y="2834640"/>
            <a:ext cx="128016" cy="0"/>
          </a:xfrm>
          <a:prstGeom prst="line">
            <a:avLst/>
          </a:prstGeom>
          <a:ln w="19050">
            <a:solidFill>
              <a:srgbClr val="F2A0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89136" y="1783080"/>
            <a:ext cx="2651760" cy="214884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89136" y="1801368"/>
            <a:ext cx="64008" cy="211226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72015" y="187451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400" b="1" i="0">
                <a:solidFill>
                  <a:srgbClr val="F2A03D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1956816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ECF1F6"/>
                </a:solidFill>
                <a:latin typeface="Segoe UI"/>
              </a:rPr>
              <a:t>SWEEP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2015" y="2432304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head oscillates ±13°;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flames and light fade out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160520"/>
            <a:ext cx="5486400" cy="201168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178807"/>
            <a:ext cx="64008" cy="1975104"/>
          </a:xfrm>
          <a:prstGeom prst="rect">
            <a:avLst/>
          </a:prstGeom>
          <a:solidFill>
            <a:srgbClr val="54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427939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549CD6"/>
                </a:solidFill>
                <a:latin typeface="Segoe UI"/>
              </a:rPr>
              <a:t>HOW IT IS IMPLEMENTED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61772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One interaction → coroutine sequence on the station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Model has </a:t>
            </a:r>
            <a:r>
              <a:rPr sz="1150" b="1">
                <a:solidFill>
                  <a:srgbClr val="F2A03D"/>
                </a:solidFill>
                <a:latin typeface="Segoe UI"/>
              </a:rPr>
              <a:t>Head / LeverPivot / Pin / SprayOrigin</a:t>
            </a:r>
            <a:r>
              <a:rPr sz="1150" b="0">
                <a:solidFill>
                  <a:srgbClr val="ECF1F6"/>
                </a:solidFill>
                <a:latin typeface="Segoe UI"/>
              </a:rPr>
              <a:t> transforms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Spray = particle system parented to the horn, aimed along +Z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`FireDemo.Douse()` fades flames, light and smoke on cue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160520"/>
            <a:ext cx="5166360" cy="201168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4178807"/>
            <a:ext cx="64008" cy="197510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279392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WHAT THE PLAYER SEES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617720"/>
            <a:ext cx="4709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Large captions: “1 of 4  PULL the safety pin” …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Real motion on the real model, in ~6 seconds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Recap panel afterwards; station explains itself before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Objective box tracks the step, no keys spammed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SECTION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The hazard is real; the shortcut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532120" cy="196596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1929384"/>
          </a:xfrm>
          <a:prstGeom prst="rect">
            <a:avLst/>
          </a:prstGeom>
          <a:solidFill>
            <a:srgbClr val="54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549CD6"/>
                </a:solidFill>
                <a:latin typeface="Segoe UI"/>
              </a:rPr>
              <a:t>ROUTE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67712"/>
            <a:ext cx="50292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5 checkpoint triggers report their id to the lesson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Lift call button → panel explains why lifts are not used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Stairs: handrails both sides, EXIT signage, 20 steps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86200"/>
            <a:ext cx="5532120" cy="22860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04487"/>
            <a:ext cx="64008" cy="224942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2336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3A2B"/>
                </a:solidFill>
                <a:latin typeface="Segoe UI"/>
              </a:rPr>
              <a:t>SMOKE HAZARD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70832"/>
            <a:ext cx="50292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`CorridorSmoke`: 4 particle systems, density ramps up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`HazardZone` trigger blocks the dense part of the corridor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Entering it resets the player to the safe point with a warning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50">
                <a:solidFill>
                  <a:srgbClr val="F2A03D"/>
                </a:solidFill>
                <a:latin typeface="Segoe UI"/>
              </a:rPr>
              <a:t>▪  </a:t>
            </a:r>
            <a:r>
              <a:rPr sz="1250" b="0">
                <a:solidFill>
                  <a:srgbClr val="ECF1F6"/>
                </a:solidFill>
                <a:latin typeface="Segoe UI"/>
              </a:rPr>
              <a:t>Fire door must be </a:t>
            </a:r>
            <a:r>
              <a:rPr sz="1250" b="1">
                <a:solidFill>
                  <a:srgbClr val="F2A03D"/>
                </a:solidFill>
                <a:latin typeface="Segoe UI"/>
              </a:rPr>
              <a:t>closed</a:t>
            </a:r>
            <a:r>
              <a:rPr sz="1250" b="0">
                <a:solidFill>
                  <a:srgbClr val="ECF1F6"/>
                </a:solidFill>
                <a:latin typeface="Segoe UI"/>
              </a:rPr>
              <a:t> to protect the stairwell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1783080"/>
            <a:ext cx="4983480" cy="2286000"/>
          </a:xfrm>
          <a:prstGeom prst="roundRect">
            <a:avLst>
              <a:gd name="adj" fmla="val 2000"/>
            </a:avLst>
          </a:prstGeom>
          <a:solidFill>
            <a:srgbClr val="221812"/>
          </a:solidFill>
          <a:ln w="9525">
            <a:solidFill>
              <a:srgbClr val="F2A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WHEN THE ROUTE IS BLOCKED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267712"/>
            <a:ext cx="45720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Move to a </a:t>
            </a:r>
            <a:r>
              <a:rPr sz="1200" b="1">
                <a:solidFill>
                  <a:srgbClr val="F2A03D"/>
                </a:solidFill>
                <a:latin typeface="Segoe UI"/>
              </a:rPr>
              <a:t>safer location</a:t>
            </a:r>
            <a:r>
              <a:rPr sz="1200" b="0">
                <a:solidFill>
                  <a:srgbClr val="ECF1F6"/>
                </a:solidFill>
                <a:latin typeface="Segoe UI"/>
              </a:rPr>
              <a:t>, not through the smoke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1">
                <a:solidFill>
                  <a:srgbClr val="F2A03D"/>
                </a:solidFill>
                <a:latin typeface="Segoe UI"/>
              </a:rPr>
              <a:t>Close the door</a:t>
            </a:r>
            <a:r>
              <a:rPr sz="1200" b="0">
                <a:solidFill>
                  <a:srgbClr val="ECF1F6"/>
                </a:solidFill>
                <a:latin typeface="Segoe UI"/>
              </a:rPr>
              <a:t> if there is one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Call </a:t>
            </a:r>
            <a:r>
              <a:rPr sz="1200" b="1">
                <a:solidFill>
                  <a:srgbClr val="F2A03D"/>
                </a:solidFill>
                <a:latin typeface="Segoe UI"/>
              </a:rPr>
              <a:t>112</a:t>
            </a:r>
            <a:r>
              <a:rPr sz="1200" b="0">
                <a:solidFill>
                  <a:srgbClr val="ECF1F6"/>
                </a:solidFill>
                <a:latin typeface="Segoe UI"/>
              </a:rPr>
              <a:t> and describe where you are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1">
                <a:solidFill>
                  <a:srgbClr val="F2A03D"/>
                </a:solidFill>
                <a:latin typeface="Segoe UI"/>
              </a:rPr>
              <a:t>Signal for help</a:t>
            </a:r>
            <a:r>
              <a:rPr sz="1200" b="0">
                <a:solidFill>
                  <a:srgbClr val="ECF1F6"/>
                </a:solidFill>
                <a:latin typeface="Segoe UI"/>
              </a:rPr>
              <a:t> — light, phone, window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206240"/>
            <a:ext cx="4983480" cy="196596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4224527"/>
            <a:ext cx="64008" cy="192938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432511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END OF THE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663440"/>
            <a:ext cx="45720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Exit doors open on interaction → outside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Assembly marker + sign, then section D panels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200">
                <a:solidFill>
                  <a:srgbClr val="F2A03D"/>
                </a:solidFill>
                <a:latin typeface="Segoe UI"/>
              </a:rPr>
              <a:t>▪  </a:t>
            </a:r>
            <a:r>
              <a:rPr sz="1200" b="0">
                <a:solidFill>
                  <a:srgbClr val="ECF1F6"/>
                </a:solidFill>
                <a:latin typeface="Segoe UI"/>
              </a:rPr>
              <a:t>No timer, no failure state — only redirection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SECTION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First aid: cautious, current, citable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486400" cy="43891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435254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BURNS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498348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Make the scene safe before helping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Cool under </a:t>
            </a:r>
            <a:r>
              <a:rPr sz="1350" b="1">
                <a:solidFill>
                  <a:srgbClr val="F2A03D"/>
                </a:solidFill>
                <a:latin typeface="Segoe UI"/>
              </a:rPr>
              <a:t>cool running water for 20 minutes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Remove jewellery and loose clothing — only if not stuck to the burn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1">
                <a:solidFill>
                  <a:srgbClr val="F2A03D"/>
                </a:solidFill>
                <a:latin typeface="Segoe UI"/>
              </a:rPr>
              <a:t>No ice, toothpaste, oils, butter or turmeric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Do not burst blisters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Cover loosely with a clean, non-fluffy dressing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Urgent care for deep, large, facial, hand or airway burns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783080"/>
            <a:ext cx="5166360" cy="43891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801368"/>
            <a:ext cx="64008" cy="435254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SMOKE INHALATION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86000"/>
            <a:ext cx="47091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1">
                <a:solidFill>
                  <a:srgbClr val="F2A03D"/>
                </a:solidFill>
                <a:latin typeface="Segoe UI"/>
              </a:rPr>
              <a:t>Never enter a dangerous area</a:t>
            </a:r>
            <a:r>
              <a:rPr sz="1350" b="0">
                <a:solidFill>
                  <a:srgbClr val="ECF1F6"/>
                </a:solidFill>
                <a:latin typeface="Segoe UI"/>
              </a:rPr>
              <a:t> to retrieve a casualty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Move to fresh air only if it is safe to do so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Call </a:t>
            </a:r>
            <a:r>
              <a:rPr sz="1350" b="1">
                <a:solidFill>
                  <a:srgbClr val="F2A03D"/>
                </a:solidFill>
                <a:latin typeface="Segoe UI"/>
              </a:rPr>
              <a:t>112</a:t>
            </a:r>
            <a:r>
              <a:rPr sz="1350" b="0">
                <a:solidFill>
                  <a:srgbClr val="ECF1F6"/>
                </a:solidFill>
                <a:latin typeface="Segoe UI"/>
              </a:rPr>
              <a:t> early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Monitor responsiveness and normal breathing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Unresponsive and not breathing normally → follow the dispatcher's CPR instructions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350">
                <a:solidFill>
                  <a:srgbClr val="F2A03D"/>
                </a:solidFill>
                <a:latin typeface="Segoe UI"/>
              </a:rPr>
              <a:t>▪  </a:t>
            </a:r>
            <a:r>
              <a:rPr sz="1350" b="0">
                <a:solidFill>
                  <a:srgbClr val="ECF1F6"/>
                </a:solidFill>
                <a:latin typeface="Segoe UI"/>
              </a:rPr>
              <a:t>Use an AED if one is available and you are instructed 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One UI, two canvas modes, three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394960" cy="201168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1975104"/>
          </a:xfrm>
          <a:prstGeom prst="rect">
            <a:avLst/>
          </a:prstGeom>
          <a:solidFill>
            <a:srgbClr val="54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549CD6"/>
                </a:solidFill>
                <a:latin typeface="Segoe UI"/>
              </a:rPr>
              <a:t>CANVAS MODE IS CHOSEN AT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1">
                <a:solidFill>
                  <a:srgbClr val="F2A03D"/>
                </a:solidFill>
                <a:latin typeface="Segoe UI"/>
              </a:rPr>
              <a:t>No headset</a:t>
            </a:r>
            <a:r>
              <a:rPr sz="1100" b="0">
                <a:solidFill>
                  <a:srgbClr val="ECF1F6"/>
                </a:solidFill>
                <a:latin typeface="Segoe UI"/>
              </a:rPr>
              <a:t> → Screen Space Overlay (drawn over the scene)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1">
                <a:solidFill>
                  <a:srgbClr val="F2A03D"/>
                </a:solidFill>
                <a:latin typeface="Segoe UI"/>
              </a:rPr>
              <a:t>Headset</a:t>
            </a:r>
            <a:r>
              <a:rPr sz="1100" b="0">
                <a:solidFill>
                  <a:srgbClr val="ECF1F6"/>
                </a:solidFill>
                <a:latin typeface="Segoe UI"/>
              </a:rPr>
              <a:t> → World Space + `HudFollower` (overlay canvases do not render in VR)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Switches automatically if a headset connects mid-session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931920"/>
            <a:ext cx="5394960" cy="224028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50207"/>
            <a:ext cx="64008" cy="220370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INPUT THAT CANNOT GET STUCK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16552"/>
            <a:ext cx="48920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Buttons fire through `Button.onClick.Invoke()`, not only the EventSystem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Mouse click · E / Enter / Space · arrows / Tab · VR trigger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Self-heal: if the cursor stays locked while no overlay is open, control returns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783080"/>
            <a:ext cx="5120640" cy="43891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801368"/>
            <a:ext cx="64008" cy="435254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9202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HUD, ALWAYS ON SCREEN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2860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Current objective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286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top right, auto-shrinking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8346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Section band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8346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top left, current of four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Interaction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3832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bottom centre, what E will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9319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Caption band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39319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during the PASS demonstration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480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Warning banner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4480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clear of the objective box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0292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ECF1F6"/>
                </a:solidFill>
                <a:latin typeface="Segoe UI"/>
              </a:rPr>
              <a:t>Controls hint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50292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bottom left, always visible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5596128"/>
            <a:ext cx="47091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1">
                <a:solidFill>
                  <a:srgbClr val="6E7C8B"/>
                </a:solidFill>
                <a:latin typeface="Segoe UI"/>
              </a:rPr>
              <a:t>1600 × 900 layout, scaled to the camera's field of 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Checking the teaching, not just the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6858000" cy="493776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8366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CF1F6"/>
                </a:solidFill>
                <a:latin typeface="Segoe UI"/>
              </a:rPr>
              <a:t>Burns cooling — 20 minutes under cool running water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8836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2A03D"/>
                </a:solidFill>
                <a:latin typeface="Segoe UI"/>
              </a:rPr>
              <a:t>WHO · NHS · Red Cross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350008"/>
            <a:ext cx="6858000" cy="493776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450591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CF1F6"/>
                </a:solidFill>
                <a:latin typeface="Segoe UI"/>
              </a:rPr>
              <a:t>Masks do not stop CO; N95 filters particles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50591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2A03D"/>
                </a:solidFill>
                <a:latin typeface="Segoe UI"/>
              </a:rPr>
              <a:t>OSHA · 3M guidance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916936"/>
            <a:ext cx="6858000" cy="493776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CF1F6"/>
                </a:solidFill>
                <a:latin typeface="Segoe UI"/>
              </a:rPr>
              <a:t>Escape hoods are short-duration, oxygen-dependent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0175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2A03D"/>
                </a:solidFill>
                <a:latin typeface="Segoe UI"/>
              </a:rPr>
              <a:t>OSHA interpretation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83863"/>
            <a:ext cx="6858000" cy="493776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584447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CF1F6"/>
                </a:solidFill>
                <a:latin typeface="Segoe UI"/>
              </a:rPr>
              <a:t>Class C = flammable gases; A/B/C/D/F classes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3584447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2A03D"/>
                </a:solidFill>
                <a:latin typeface="Segoe UI"/>
              </a:rPr>
              <a:t>IS 15683 / IS 2190 · RDSO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50791"/>
            <a:ext cx="6858000" cy="493776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151376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CF1F6"/>
                </a:solidFill>
                <a:latin typeface="Segoe UI"/>
              </a:rPr>
              <a:t>Single emergency number in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151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2A03D"/>
                </a:solidFill>
                <a:latin typeface="Segoe UI"/>
              </a:rPr>
              <a:t>112.gov.in (MHA)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617720"/>
            <a:ext cx="6858000" cy="493776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718304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ECF1F6"/>
                </a:solidFill>
                <a:latin typeface="Segoe UI"/>
              </a:rPr>
              <a:t>CPR/AED only as dispatched / trained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71830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F2A03D"/>
                </a:solidFill>
                <a:latin typeface="Segoe UI"/>
              </a:rPr>
              <a:t>American Heart Association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783080"/>
            <a:ext cx="3794760" cy="23317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26679" y="1801368"/>
            <a:ext cx="64008" cy="229514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79" y="1920240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IN THE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2286000"/>
            <a:ext cx="3383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`LessonContent.References` — titles + URLs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Rendered on the in-world references board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Only sources actually consulted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No invented citations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6679" y="4251960"/>
            <a:ext cx="3794760" cy="1920240"/>
          </a:xfrm>
          <a:prstGeom prst="roundRect">
            <a:avLst>
              <a:gd name="adj" fmla="val 2000"/>
            </a:avLst>
          </a:prstGeom>
          <a:solidFill>
            <a:srgbClr val="221812"/>
          </a:solidFill>
          <a:ln w="9525">
            <a:solidFill>
              <a:srgbClr val="D9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4370832"/>
            <a:ext cx="3383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3A2B"/>
                </a:solidFill>
                <a:latin typeface="Segoe UI"/>
              </a:rPr>
              <a:t>LANGUAGE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70916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“if it is safe to do so”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“follow the dispatcher's instructions”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No absolutes, no heroics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Generated scene, automated checks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486400" cy="21031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2066543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BUILD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49834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`gen_assets.py` → sign textures, WAV audio, 53 materials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`gen_scene.py` → 276-object scene, meta files, build settings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Deterministic: rerunning reproduces the same scene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23360"/>
            <a:ext cx="5486400" cy="214884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41648"/>
            <a:ext cx="64008" cy="2112264"/>
          </a:xfrm>
          <a:prstGeom prst="rect">
            <a:avLst/>
          </a:prstGeom>
          <a:solidFill>
            <a:srgbClr val="54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605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549CD6"/>
                </a:solidFill>
                <a:latin typeface="Segoe UI"/>
              </a:rPr>
              <a:t>VERIFICATION INSTEAD OF GUESSING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507992"/>
            <a:ext cx="4983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verify_scene: fileIDs, GUIDs, serialized fields, transforms, metas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verify_flow: every event id handled, every stage reachable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verify_project: editor version, packages, URP wiring, materials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100">
                <a:solidFill>
                  <a:srgbClr val="F2A03D"/>
                </a:solidFill>
                <a:latin typeface="Segoe UI"/>
              </a:rPr>
              <a:t>▪  </a:t>
            </a:r>
            <a:r>
              <a:rPr sz="1100" b="0">
                <a:solidFill>
                  <a:srgbClr val="ECF1F6"/>
                </a:solidFill>
                <a:latin typeface="Segoe UI"/>
              </a:rPr>
              <a:t>check_cs_access: cross-class member access (CS0122/CS0272 class)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83080"/>
            <a:ext cx="5029200" cy="438912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801368"/>
            <a:ext cx="64008" cy="43525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D93A2B"/>
                </a:solidFill>
                <a:latin typeface="Segoe UI"/>
              </a:rPr>
              <a:t>MIGRATED TO UNITY 6.5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286000"/>
            <a:ext cx="45720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Target </a:t>
            </a:r>
            <a:r>
              <a:rPr sz="1150" b="1">
                <a:solidFill>
                  <a:srgbClr val="F2A03D"/>
                </a:solidFill>
                <a:latin typeface="Segoe UI"/>
              </a:rPr>
              <a:t>6000.5.3f1</a:t>
            </a:r>
            <a:r>
              <a:rPr sz="1150" b="0">
                <a:solidFill>
                  <a:srgbClr val="ECF1F6"/>
                </a:solidFill>
                <a:latin typeface="Segoe UI"/>
              </a:rPr>
              <a:t>, Active Input Handling = Both, Linear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Built-in RP → </a:t>
            </a:r>
            <a:r>
              <a:rPr sz="1150" b="1">
                <a:solidFill>
                  <a:srgbClr val="F2A03D"/>
                </a:solidFill>
                <a:latin typeface="Segoe UI"/>
              </a:rPr>
              <a:t>URP 17.5</a:t>
            </a:r>
            <a:r>
              <a:rPr sz="1150" b="0">
                <a:solidFill>
                  <a:srgbClr val="ECF1F6"/>
                </a:solidFill>
                <a:latin typeface="Segoe UI"/>
              </a:rPr>
              <a:t>: pipeline asset, renderer, volume profile, 53 materials, every light and the camera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Removed APIs replaced (e.g. `FindFirstObjectByType`)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Import-crash fix: ship the `Assets/XR` + `Assets/XRI/Settings` folders OpenXR expects, so it never calls `CreateFolder` on a missing path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150">
                <a:solidFill>
                  <a:srgbClr val="F2A03D"/>
                </a:solidFill>
                <a:latin typeface="Segoe UI"/>
              </a:rPr>
              <a:t>▪  </a:t>
            </a:r>
            <a:r>
              <a:rPr sz="1150" b="0">
                <a:solidFill>
                  <a:srgbClr val="ECF1F6"/>
                </a:solidFill>
                <a:latin typeface="Segoe UI"/>
              </a:rPr>
              <a:t>Sample-free OpenXR: enable the loader in XR Plug-in Management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PLAY-TEST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What actually broke, and what fixed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37360"/>
            <a:ext cx="10927080" cy="74980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920240"/>
            <a:ext cx="365760" cy="365760"/>
          </a:xfrm>
          <a:prstGeom prst="ellipse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CF1F6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828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Panels were invisible behind walls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19656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World-space UI sat 1.55 m ahead — inside the wall you face at the alarm. Desktop now uses Screen Space Overlay; VR pulls the canvas in front of geometry.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96896"/>
            <a:ext cx="10927080" cy="74980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4672" y="2779776"/>
            <a:ext cx="365760" cy="365760"/>
          </a:xfrm>
          <a:prstGeom prst="ellipse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CF1F6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68833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Menu text overlapped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79191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Bands collided at 16:9 and the canvas was cropped on other aspects. Rebuilt as stacked bands and scaled to the camera's field of 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456432"/>
            <a:ext cx="10927080" cy="74980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2" y="3639312"/>
            <a:ext cx="365760" cy="365760"/>
          </a:xfrm>
          <a:prstGeom prst="ellipse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CF1F6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54787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Sky visible after the stairs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38727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The stairwell is full height but the doorway is 2.3 m — the wall above it was missing. Sealed, plus a ray test and a scene check.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315968"/>
            <a:ext cx="10927080" cy="74980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" y="4498848"/>
            <a:ext cx="365760" cy="365760"/>
          </a:xfrm>
          <a:prstGeom prst="ellipse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CF1F6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07407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Extinguishers did nothing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98264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Models were locked until one lesson stage. Now always available; the stage only decides whether the interaction counts.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75504"/>
            <a:ext cx="10927080" cy="749808"/>
          </a:xfrm>
          <a:prstGeom prst="roundRect">
            <a:avLst>
              <a:gd name="adj" fmla="val 2000"/>
            </a:avLst>
          </a:prstGeom>
          <a:solidFill>
            <a:srgbClr val="1E2A37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4672" y="5358384"/>
            <a:ext cx="365760" cy="365760"/>
          </a:xfrm>
          <a:prstGeom prst="ellipse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CF1F6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26694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Particle console warning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257800"/>
            <a:ext cx="676656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9BA8B6"/>
                </a:solidFill>
                <a:latin typeface="Segoe UI"/>
              </a:rPr>
              <a:t>Smoke set only the X/Z velocity curves, leaving Y in another mode. All axes now match.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08192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0" i="1">
                <a:solidFill>
                  <a:srgbClr val="6E7C8B"/>
                </a:solidFill>
                <a:latin typeface="Segoe UI"/>
              </a:rPr>
              <a:t>Each finding was reproduced from a screenshot or the Console, fixed at the cause, then re-checked by the automated suite.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Open one scene and press Play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5486400" cy="260604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256946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920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GETTING STARTED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3317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1.  Unity Hub → Add → this folder → open with </a:t>
            </a:r>
            <a:r>
              <a:rPr sz="1150" b="1" i="0">
                <a:solidFill>
                  <a:srgbClr val="F2A03D"/>
                </a:solidFill>
                <a:latin typeface="Segoe UI"/>
              </a:rPr>
              <a:t>6000.5.3f1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834639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2.  Open </a:t>
            </a:r>
            <a:r>
              <a:rPr sz="1150" b="1" i="0">
                <a:solidFill>
                  <a:srgbClr val="F2A03D"/>
                </a:solidFill>
                <a:latin typeface="Segoe UI"/>
              </a:rPr>
              <a:t>Assets/Scenes/FireSafetyTrainer.unity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3375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3.  Press </a:t>
            </a:r>
            <a:r>
              <a:rPr sz="1150" b="1" i="0">
                <a:solidFill>
                  <a:srgbClr val="F2A03D"/>
                </a:solidFill>
                <a:latin typeface="Segoe UI"/>
              </a:rPr>
              <a:t>Play</a:t>
            </a:r>
            <a:r>
              <a:rPr sz="1150" b="0" i="0">
                <a:solidFill>
                  <a:srgbClr val="ECF1F6"/>
                </a:solidFill>
                <a:latin typeface="Segoe UI"/>
              </a:rPr>
              <a:t> → main menu → Start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84048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 i="0">
                <a:solidFill>
                  <a:srgbClr val="ECF1F6"/>
                </a:solidFill>
                <a:latin typeface="Segoe UI"/>
              </a:rPr>
              <a:t>4.  VR: enable OpenXR in XR Plug-in Management, then 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526280"/>
            <a:ext cx="5486400" cy="16002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544568"/>
            <a:ext cx="64008" cy="156362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3FBF7F"/>
                </a:solidFill>
                <a:latin typeface="Segoe UI"/>
              </a:rPr>
              <a:t>DESKTOP CONTROLS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83480"/>
            <a:ext cx="4983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WASD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move   ·   </a:t>
            </a:r>
            <a:r>
              <a:rPr sz="1150" b="1" i="0">
                <a:solidFill>
                  <a:srgbClr val="F2A03D"/>
                </a:solidFill>
                <a:latin typeface="Segoe UI"/>
              </a:rPr>
              <a:t>Mouse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look   ·   </a:t>
            </a:r>
            <a:r>
              <a:rPr sz="1150" b="1" i="0">
                <a:solidFill>
                  <a:srgbClr val="F2A03D"/>
                </a:solidFill>
                <a:latin typeface="Segoe UI"/>
              </a:rPr>
              <a:t>Shift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run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E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interact   ·   </a:t>
            </a:r>
            <a:r>
              <a:rPr sz="1150" b="1" i="0">
                <a:solidFill>
                  <a:srgbClr val="F2A03D"/>
                </a:solidFill>
                <a:latin typeface="Segoe UI"/>
              </a:rPr>
              <a:t>Click / Enter / Space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press buttons   ·   </a:t>
            </a:r>
            <a:r>
              <a:rPr sz="1150" b="1" i="0">
                <a:solidFill>
                  <a:srgbClr val="F2A03D"/>
                </a:solidFill>
                <a:latin typeface="Segoe UI"/>
              </a:rPr>
              <a:t>Esc</a:t>
            </a:r>
            <a:r>
              <a:rPr sz="1150" b="0" i="0">
                <a:solidFill>
                  <a:srgbClr val="9BA8B6"/>
                </a:solidFill>
                <a:latin typeface="Segoe UI"/>
              </a:rPr>
              <a:t> pause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783080"/>
            <a:ext cx="5074920" cy="43434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1801368"/>
            <a:ext cx="64008" cy="4306824"/>
          </a:xfrm>
          <a:prstGeom prst="rect">
            <a:avLst/>
          </a:prstGeom>
          <a:solidFill>
            <a:srgbClr val="54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90195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549CD6"/>
                </a:solidFill>
                <a:latin typeface="Segoe UI"/>
              </a:rPr>
              <a:t>WHAT IS VERIFIED — AND WHAT IS NOT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231136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FBF7F"/>
                </a:solidFill>
                <a:latin typeface="Segoe UI"/>
              </a:rPr>
              <a:t>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87168"/>
            <a:ext cx="464515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>
                <a:solidFill>
                  <a:srgbClr val="F2A03D"/>
                </a:solidFill>
                <a:latin typeface="Segoe UI"/>
              </a:rPr>
              <a:t>▪  </a:t>
            </a:r>
            <a:r>
              <a:rPr sz="1050" b="0">
                <a:solidFill>
                  <a:srgbClr val="ECF1F6"/>
                </a:solidFill>
                <a:latin typeface="Segoe UI"/>
              </a:rPr>
              <a:t>Scene integrity, lesson flow, project settings, URP wiring, C# access, syntax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>
                <a:solidFill>
                  <a:srgbClr val="F2A03D"/>
                </a:solidFill>
                <a:latin typeface="Segoe UI"/>
              </a:rPr>
              <a:t>▪  </a:t>
            </a:r>
            <a:r>
              <a:rPr sz="1050" b="0">
                <a:solidFill>
                  <a:srgbClr val="ECF1F6"/>
                </a:solidFill>
                <a:latin typeface="Segoe UI"/>
              </a:rPr>
              <a:t>Stairwell enclosure — ray test: no view escapes the building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>
                <a:solidFill>
                  <a:srgbClr val="F2A03D"/>
                </a:solidFill>
                <a:latin typeface="Segoe UI"/>
              </a:rPr>
              <a:t>▪  </a:t>
            </a:r>
            <a:r>
              <a:rPr sz="1050" b="0">
                <a:solidFill>
                  <a:srgbClr val="ECF1F6"/>
                </a:solidFill>
                <a:latin typeface="Segoe UI"/>
              </a:rPr>
              <a:t>The project opens on 6000.5.3f1 with URP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40480"/>
            <a:ext cx="4617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D93A2B"/>
                </a:solidFill>
                <a:latin typeface="Segoe UI"/>
              </a:rPr>
              <a:t>NOT VERIFIED 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096512"/>
            <a:ext cx="4645152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>
                <a:solidFill>
                  <a:srgbClr val="D93A2B"/>
                </a:solidFill>
                <a:latin typeface="Segoe UI"/>
              </a:rPr>
              <a:t>▪  </a:t>
            </a:r>
            <a:r>
              <a:rPr sz="1050" b="0">
                <a:solidFill>
                  <a:srgbClr val="ECF1F6"/>
                </a:solidFill>
                <a:latin typeface="Segoe UI"/>
              </a:rPr>
              <a:t>VR runtime on a headset — no headset in this environment</a:t>
            </a:r>
          </a:p>
          <a:p>
            <a:pPr>
              <a:lnSpc>
                <a:spcPct val="112000"/>
              </a:lnSpc>
              <a:spcAft>
                <a:spcPts val="400"/>
              </a:spcAft>
            </a:pPr>
            <a:r>
              <a:rPr sz="1050">
                <a:solidFill>
                  <a:srgbClr val="D93A2B"/>
                </a:solidFill>
                <a:latin typeface="Segoe UI"/>
              </a:rPr>
              <a:t>▪  </a:t>
            </a:r>
            <a:r>
              <a:rPr sz="1050" b="0">
                <a:solidFill>
                  <a:srgbClr val="ECF1F6"/>
                </a:solidFill>
                <a:latin typeface="Segoe UI"/>
              </a:rPr>
              <a:t>The rendered look of the new UI and the PASS animation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257800"/>
            <a:ext cx="4617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6E7C8B"/>
                </a:solidFill>
                <a:latin typeface="Segoe UI"/>
              </a:rPr>
              <a:t>Manual step: enable OpenXR, then import the device simulator for headset preview.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75488"/>
            <a:ext cx="82296" cy="237744"/>
          </a:xfrm>
          <a:prstGeom prst="rect">
            <a:avLst/>
          </a:prstGeom>
          <a:solidFill>
            <a:srgbClr val="D9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4572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 i="0">
                <a:solidFill>
                  <a:srgbClr val="F2A03D"/>
                </a:solidFill>
                <a:latin typeface="Segoe UI"/>
              </a:rPr>
              <a:t>VR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86384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 i="0">
                <a:solidFill>
                  <a:srgbClr val="ECF1F6"/>
                </a:solidFill>
                <a:latin typeface="Segoe UI"/>
              </a:rPr>
              <a:t>Proving the headset path without a headset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36192"/>
            <a:ext cx="1188720" cy="41148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402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200" b="0" i="0">
                <a:solidFill>
                  <a:srgbClr val="6E7C8B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37376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VR Fire Safety &amp; Evacuation Trainer  ·  implementation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4255" y="643737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00" b="0" i="0">
                <a:solidFill>
                  <a:srgbClr val="6E7C8B"/>
                </a:solidFill>
                <a:latin typeface="Segoe UI"/>
              </a:rPr>
              <a:t>Unity 6000.5.3f1  ·  URP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3520440" cy="13716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801368"/>
            <a:ext cx="64008" cy="133502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9019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2A03D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19385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Machine-written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35000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Tools ▸ VR Fire Safety ▸ VR Readiness Report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writes docs/VR-Readiness-Report.md from the live project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1783080"/>
            <a:ext cx="3520440" cy="13716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801368"/>
            <a:ext cx="64008" cy="133502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19019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2A03D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19385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Stereo in the Editor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35000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Mock HMD + Game view ▸ Both Eyes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the scene rendered twice, once per eye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1" y="1783080"/>
            <a:ext cx="3520440" cy="13716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19871" y="1801368"/>
            <a:ext cx="64008" cy="1335024"/>
          </a:xfrm>
          <a:prstGeom prst="rect">
            <a:avLst/>
          </a:prstGeom>
          <a:solidFill>
            <a:srgbClr val="F2A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1" y="190195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F2A03D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1938528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Live XR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1" y="2350008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Press F2 in Play mode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session ACTIVE, stereo mode, tracking origin, controllers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55848"/>
            <a:ext cx="3520440" cy="13716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374136"/>
            <a:ext cx="64008" cy="133502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474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3FBF7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3584" y="35112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Settings screens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392277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OpenXR ticked · interaction profile listed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Single Pass Instanced · IL2CPP · ARM64 · API 29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9976" y="3355848"/>
            <a:ext cx="3520440" cy="13716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9976" y="3374136"/>
            <a:ext cx="64008" cy="133502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62856" y="3474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3FBF7F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35112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Build proof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62856" y="392277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Android ▸ Build (no device attached)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XR, IL2CPP, ARM64 and shaders all compile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19871" y="3355848"/>
            <a:ext cx="3520440" cy="1371600"/>
          </a:xfrm>
          <a:prstGeom prst="roundRect">
            <a:avLst>
              <a:gd name="adj" fmla="val 2000"/>
            </a:avLst>
          </a:prstGeom>
          <a:solidFill>
            <a:srgbClr val="17212C"/>
          </a:solidFill>
          <a:ln w="9525">
            <a:solidFill>
              <a:srgbClr val="1E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19871" y="3374136"/>
            <a:ext cx="64008" cy="1335024"/>
          </a:xfrm>
          <a:prstGeom prst="rect">
            <a:avLst/>
          </a:prstGeom>
          <a:solidFill>
            <a:srgbClr val="3FB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1" y="34747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900" b="1" i="0">
                <a:solidFill>
                  <a:srgbClr val="3FBF7F"/>
                </a:solidFill>
                <a:latin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23376" y="3511296"/>
            <a:ext cx="2743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 i="0">
                <a:solidFill>
                  <a:srgbClr val="ECF1F6"/>
                </a:solidFill>
                <a:latin typeface="Segoe UI"/>
              </a:rPr>
              <a:t>Honest wording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1" y="392277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"Configuration-verified and exercised with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0">
                <a:solidFill>
                  <a:srgbClr val="9BA8B6"/>
                </a:solidFill>
                <a:latin typeface="Segoe UI"/>
              </a:rPr>
              <a:t>the Mock HMD runtime; not yet on hardware"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2000"/>
            </a:avLst>
          </a:prstGeom>
          <a:solidFill>
            <a:srgbClr val="2A1B14"/>
          </a:solidFill>
          <a:ln w="9525">
            <a:solidFill>
              <a:srgbClr val="D93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175504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 i="0">
                <a:solidFill>
                  <a:srgbClr val="D93A2B"/>
                </a:solidFill>
                <a:latin typeface="Segoe UI"/>
              </a:rPr>
              <a:t>SAY THIS, NOT MORE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440680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9BA8B6"/>
                </a:solidFill>
                <a:latin typeface="Segoe UI"/>
              </a:rPr>
              <a:t>The VR path is implemented and configuration-verified, and was exercised in the Editor with the Mock HMD stereo runtime. It has not been run on a physical headset, and performance on device has not been measured.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